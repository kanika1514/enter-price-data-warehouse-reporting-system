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60" r:id="rId7"/>
    <p:sldId id="258" r:id="rId8"/>
    <p:sldId id="286" r:id="rId9"/>
    <p:sldId id="287" r:id="rId10"/>
    <p:sldId id="283" r:id="rId11"/>
    <p:sldId id="288" r:id="rId12"/>
    <p:sldId id="262" r:id="rId13"/>
    <p:sldId id="290" r:id="rId14"/>
    <p:sldId id="291" r:id="rId15"/>
    <p:sldId id="264" r:id="rId16"/>
    <p:sldId id="292" r:id="rId17"/>
    <p:sldId id="293" r:id="rId18"/>
    <p:sldId id="267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103350"/>
    <a:srgbClr val="0C4360"/>
    <a:srgbClr val="1B6872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4AEB9-5738-4D15-BFE1-2AB290F1A555}" v="13" dt="2026-06-21T14:43:48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CBB87B-1093-4209-8AF3-0DB4A31F63F5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EC76504-F5A0-435E-AFA3-46112A6CBB97}">
      <dgm:prSet phldrT="[Text]" phldr="0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 source (CSV dataset)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BA644C-E774-42CB-8AA9-BC2F1DB6ED32}" type="parTrans" cxnId="{5484C8CC-26BE-44D8-8DFC-E826BCA881AD}">
      <dgm:prSet/>
      <dgm:spPr/>
      <dgm:t>
        <a:bodyPr/>
        <a:lstStyle/>
        <a:p>
          <a:endParaRPr lang="en-IN" sz="1200"/>
        </a:p>
      </dgm:t>
    </dgm:pt>
    <dgm:pt modelId="{021FDC23-F4D0-4B08-890A-7D026F583987}" type="sibTrans" cxnId="{5484C8CC-26BE-44D8-8DFC-E826BCA881AD}">
      <dgm:prSet custT="1"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35226A-98FB-4B8B-B28A-FF9BF2A77707}">
      <dgm:prSet phldrT="[Text]" phldr="0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Python &amp; Pandas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80529B-14DF-4CD5-9877-D4B58B505784}" type="parTrans" cxnId="{170BC346-E13C-4589-A6A0-CDAFD932312E}">
      <dgm:prSet/>
      <dgm:spPr/>
      <dgm:t>
        <a:bodyPr/>
        <a:lstStyle/>
        <a:p>
          <a:endParaRPr lang="en-IN" sz="1200"/>
        </a:p>
      </dgm:t>
    </dgm:pt>
    <dgm:pt modelId="{3051631B-FCAF-465B-82BA-3473EA79E614}" type="sibTrans" cxnId="{170BC346-E13C-4589-A6A0-CDAFD932312E}">
      <dgm:prSet custT="1"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08D3C8-D5C9-4591-B992-6F04EEDD3F53}">
      <dgm:prSet phldrT="[Text]" phldr="0"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SQL Database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F0ABBF-7980-4059-B483-C29E8F6EDCAA}" type="parTrans" cxnId="{CEA5AC6D-61C7-4499-AA9A-B02EF9AE5354}">
      <dgm:prSet/>
      <dgm:spPr/>
      <dgm:t>
        <a:bodyPr/>
        <a:lstStyle/>
        <a:p>
          <a:endParaRPr lang="en-IN" sz="1200"/>
        </a:p>
      </dgm:t>
    </dgm:pt>
    <dgm:pt modelId="{84E2C7AD-FA83-4D76-8F44-62BC57E360B8}" type="sibTrans" cxnId="{CEA5AC6D-61C7-4499-AA9A-B02EF9AE5354}">
      <dgm:prSet custT="1"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C89854-2998-4BD8-AA24-DD4DA5B4C5D6}">
      <dgm:prSet phldrT="[Text]" phldr="0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 Warehouse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81923F-1835-413B-A9E4-49FABAB3C202}" type="parTrans" cxnId="{3BA728CD-2B56-4998-82F5-A290E83A4E14}">
      <dgm:prSet/>
      <dgm:spPr/>
      <dgm:t>
        <a:bodyPr/>
        <a:lstStyle/>
        <a:p>
          <a:endParaRPr lang="en-IN" sz="1200"/>
        </a:p>
      </dgm:t>
    </dgm:pt>
    <dgm:pt modelId="{E5E88EBF-B3EB-470D-B28B-338465FA2FB1}" type="sibTrans" cxnId="{3BA728CD-2B56-4998-82F5-A290E83A4E14}">
      <dgm:prSet custT="1"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C47091-F2B8-438E-AC2E-6410635B4672}">
      <dgm:prSet phldrT="[Text]" phldr="0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Business Insights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6524D8-E1FC-4F35-881D-3DC1B1FDFEEA}" type="parTrans" cxnId="{770953BD-D6E6-4C51-B522-7F4764C19ED6}">
      <dgm:prSet/>
      <dgm:spPr/>
      <dgm:t>
        <a:bodyPr/>
        <a:lstStyle/>
        <a:p>
          <a:endParaRPr lang="en-IN" sz="1200"/>
        </a:p>
      </dgm:t>
    </dgm:pt>
    <dgm:pt modelId="{06068AC3-29D3-4125-89E5-D2E578B5797D}" type="sibTrans" cxnId="{770953BD-D6E6-4C51-B522-7F4764C19ED6}">
      <dgm:prSet custT="1"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98CFE7-BFC5-4A16-8F13-1EC4A82277E7}">
      <dgm:prSet phldrT="[Text]" phldr="0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Data Cleaning and Transform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6DB187-18FA-4AFA-B6FB-931D7B8F142A}" type="parTrans" cxnId="{D82402FE-A04F-4807-9F8B-8A6EEB894F4F}">
      <dgm:prSet/>
      <dgm:spPr/>
      <dgm:t>
        <a:bodyPr/>
        <a:lstStyle/>
        <a:p>
          <a:endParaRPr lang="en-IN"/>
        </a:p>
      </dgm:t>
    </dgm:pt>
    <dgm:pt modelId="{DA44C600-7E64-4103-BF67-3D6D9292E811}" type="sibTrans" cxnId="{D82402FE-A04F-4807-9F8B-8A6EEB894F4F}">
      <dgm:prSet custT="1"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0A26D4-E439-438F-99AB-6472A8217B27}">
      <dgm:prSet phldrT="[Text]" phldr="0"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Power BI Dashboard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BECA5F-DDC8-4390-B19F-B1670070D854}" type="parTrans" cxnId="{F5723DB6-501A-4469-A735-9CA6C3DDAB2E}">
      <dgm:prSet/>
      <dgm:spPr/>
      <dgm:t>
        <a:bodyPr/>
        <a:lstStyle/>
        <a:p>
          <a:endParaRPr lang="en-IN"/>
        </a:p>
      </dgm:t>
    </dgm:pt>
    <dgm:pt modelId="{9AA94D40-3F7F-4E6C-8570-81EC956EE6F7}" type="sibTrans" cxnId="{F5723DB6-501A-4469-A735-9CA6C3DDAB2E}">
      <dgm:prSet custT="1"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D06DA6-C3B1-4120-AFA3-952B8A12AD56}" type="pres">
      <dgm:prSet presAssocID="{EBCBB87B-1093-4209-8AF3-0DB4A31F63F5}" presName="cycle" presStyleCnt="0">
        <dgm:presLayoutVars>
          <dgm:dir/>
          <dgm:resizeHandles val="exact"/>
        </dgm:presLayoutVars>
      </dgm:prSet>
      <dgm:spPr/>
    </dgm:pt>
    <dgm:pt modelId="{0ADD17FE-8A86-494E-A790-B38D170EF4A8}" type="pres">
      <dgm:prSet presAssocID="{DEC76504-F5A0-435E-AFA3-46112A6CBB97}" presName="node" presStyleLbl="node1" presStyleIdx="0" presStyleCnt="7">
        <dgm:presLayoutVars>
          <dgm:bulletEnabled val="1"/>
        </dgm:presLayoutVars>
      </dgm:prSet>
      <dgm:spPr/>
    </dgm:pt>
    <dgm:pt modelId="{A5C8FC56-9BAB-4138-AB40-12C56301E7CA}" type="pres">
      <dgm:prSet presAssocID="{021FDC23-F4D0-4B08-890A-7D026F583987}" presName="sibTrans" presStyleLbl="sibTrans2D1" presStyleIdx="0" presStyleCnt="7"/>
      <dgm:spPr/>
    </dgm:pt>
    <dgm:pt modelId="{5C527F6A-771A-4161-983B-8A8ECECA81D3}" type="pres">
      <dgm:prSet presAssocID="{021FDC23-F4D0-4B08-890A-7D026F583987}" presName="connectorText" presStyleLbl="sibTrans2D1" presStyleIdx="0" presStyleCnt="7"/>
      <dgm:spPr/>
    </dgm:pt>
    <dgm:pt modelId="{105F0EEC-CEFD-4699-B2E8-7919551B721C}" type="pres">
      <dgm:prSet presAssocID="{6035226A-98FB-4B8B-B28A-FF9BF2A77707}" presName="node" presStyleLbl="node1" presStyleIdx="1" presStyleCnt="7">
        <dgm:presLayoutVars>
          <dgm:bulletEnabled val="1"/>
        </dgm:presLayoutVars>
      </dgm:prSet>
      <dgm:spPr/>
    </dgm:pt>
    <dgm:pt modelId="{9225EE25-C71D-45E9-8CC2-3090D0BC1D79}" type="pres">
      <dgm:prSet presAssocID="{3051631B-FCAF-465B-82BA-3473EA79E614}" presName="sibTrans" presStyleLbl="sibTrans2D1" presStyleIdx="1" presStyleCnt="7"/>
      <dgm:spPr/>
    </dgm:pt>
    <dgm:pt modelId="{76348C0A-B287-4E98-BC42-4357C02741CD}" type="pres">
      <dgm:prSet presAssocID="{3051631B-FCAF-465B-82BA-3473EA79E614}" presName="connectorText" presStyleLbl="sibTrans2D1" presStyleIdx="1" presStyleCnt="7"/>
      <dgm:spPr/>
    </dgm:pt>
    <dgm:pt modelId="{D5E5C0EB-C9C6-4859-BFB4-3B9C04ED64DA}" type="pres">
      <dgm:prSet presAssocID="{E198CFE7-BFC5-4A16-8F13-1EC4A82277E7}" presName="node" presStyleLbl="node1" presStyleIdx="2" presStyleCnt="7">
        <dgm:presLayoutVars>
          <dgm:bulletEnabled val="1"/>
        </dgm:presLayoutVars>
      </dgm:prSet>
      <dgm:spPr/>
    </dgm:pt>
    <dgm:pt modelId="{68005240-2E97-4600-961B-DB7BFE96EFE0}" type="pres">
      <dgm:prSet presAssocID="{DA44C600-7E64-4103-BF67-3D6D9292E811}" presName="sibTrans" presStyleLbl="sibTrans2D1" presStyleIdx="2" presStyleCnt="7"/>
      <dgm:spPr/>
    </dgm:pt>
    <dgm:pt modelId="{6284C96F-3C03-45BE-BEDA-BDF8B9715DAA}" type="pres">
      <dgm:prSet presAssocID="{DA44C600-7E64-4103-BF67-3D6D9292E811}" presName="connectorText" presStyleLbl="sibTrans2D1" presStyleIdx="2" presStyleCnt="7"/>
      <dgm:spPr/>
    </dgm:pt>
    <dgm:pt modelId="{5D7F2CD3-EFA0-49D6-A3F7-F0A61F750F17}" type="pres">
      <dgm:prSet presAssocID="{BA08D3C8-D5C9-4591-B992-6F04EEDD3F53}" presName="node" presStyleLbl="node1" presStyleIdx="3" presStyleCnt="7">
        <dgm:presLayoutVars>
          <dgm:bulletEnabled val="1"/>
        </dgm:presLayoutVars>
      </dgm:prSet>
      <dgm:spPr/>
    </dgm:pt>
    <dgm:pt modelId="{DBC838C8-3CBD-48FD-8317-A27BB33E0D0B}" type="pres">
      <dgm:prSet presAssocID="{84E2C7AD-FA83-4D76-8F44-62BC57E360B8}" presName="sibTrans" presStyleLbl="sibTrans2D1" presStyleIdx="3" presStyleCnt="7"/>
      <dgm:spPr/>
    </dgm:pt>
    <dgm:pt modelId="{2C31A080-1F54-46BD-A2DC-1A8D3AC71B11}" type="pres">
      <dgm:prSet presAssocID="{84E2C7AD-FA83-4D76-8F44-62BC57E360B8}" presName="connectorText" presStyleLbl="sibTrans2D1" presStyleIdx="3" presStyleCnt="7"/>
      <dgm:spPr/>
    </dgm:pt>
    <dgm:pt modelId="{35A07BC6-D709-4B01-9089-001FA0084AE9}" type="pres">
      <dgm:prSet presAssocID="{F1C89854-2998-4BD8-AA24-DD4DA5B4C5D6}" presName="node" presStyleLbl="node1" presStyleIdx="4" presStyleCnt="7">
        <dgm:presLayoutVars>
          <dgm:bulletEnabled val="1"/>
        </dgm:presLayoutVars>
      </dgm:prSet>
      <dgm:spPr/>
    </dgm:pt>
    <dgm:pt modelId="{977F9B46-008E-4690-897F-462923174C0E}" type="pres">
      <dgm:prSet presAssocID="{E5E88EBF-B3EB-470D-B28B-338465FA2FB1}" presName="sibTrans" presStyleLbl="sibTrans2D1" presStyleIdx="4" presStyleCnt="7"/>
      <dgm:spPr/>
    </dgm:pt>
    <dgm:pt modelId="{9156D3F9-C741-40DE-837B-4C8DD4ECE71F}" type="pres">
      <dgm:prSet presAssocID="{E5E88EBF-B3EB-470D-B28B-338465FA2FB1}" presName="connectorText" presStyleLbl="sibTrans2D1" presStyleIdx="4" presStyleCnt="7"/>
      <dgm:spPr/>
    </dgm:pt>
    <dgm:pt modelId="{5F3094F4-63B9-439F-8631-7EDC4182BF04}" type="pres">
      <dgm:prSet presAssocID="{4C0A26D4-E439-438F-99AB-6472A8217B27}" presName="node" presStyleLbl="node1" presStyleIdx="5" presStyleCnt="7">
        <dgm:presLayoutVars>
          <dgm:bulletEnabled val="1"/>
        </dgm:presLayoutVars>
      </dgm:prSet>
      <dgm:spPr/>
    </dgm:pt>
    <dgm:pt modelId="{E79A6657-C5FE-41C2-9DDA-6D31D83E1D56}" type="pres">
      <dgm:prSet presAssocID="{9AA94D40-3F7F-4E6C-8570-81EC956EE6F7}" presName="sibTrans" presStyleLbl="sibTrans2D1" presStyleIdx="5" presStyleCnt="7"/>
      <dgm:spPr/>
    </dgm:pt>
    <dgm:pt modelId="{0604BFBB-138F-4387-A2FE-9316850E3419}" type="pres">
      <dgm:prSet presAssocID="{9AA94D40-3F7F-4E6C-8570-81EC956EE6F7}" presName="connectorText" presStyleLbl="sibTrans2D1" presStyleIdx="5" presStyleCnt="7"/>
      <dgm:spPr/>
    </dgm:pt>
    <dgm:pt modelId="{8E78D3AB-DC52-4274-8675-483133A80730}" type="pres">
      <dgm:prSet presAssocID="{AEC47091-F2B8-438E-AC2E-6410635B4672}" presName="node" presStyleLbl="node1" presStyleIdx="6" presStyleCnt="7">
        <dgm:presLayoutVars>
          <dgm:bulletEnabled val="1"/>
        </dgm:presLayoutVars>
      </dgm:prSet>
      <dgm:spPr/>
    </dgm:pt>
    <dgm:pt modelId="{D073FB9B-A726-4652-8794-388A9CABFB69}" type="pres">
      <dgm:prSet presAssocID="{06068AC3-29D3-4125-89E5-D2E578B5797D}" presName="sibTrans" presStyleLbl="sibTrans2D1" presStyleIdx="6" presStyleCnt="7"/>
      <dgm:spPr/>
    </dgm:pt>
    <dgm:pt modelId="{9C3884C2-477B-4C54-9DB5-45E5B8769911}" type="pres">
      <dgm:prSet presAssocID="{06068AC3-29D3-4125-89E5-D2E578B5797D}" presName="connectorText" presStyleLbl="sibTrans2D1" presStyleIdx="6" presStyleCnt="7"/>
      <dgm:spPr/>
    </dgm:pt>
  </dgm:ptLst>
  <dgm:cxnLst>
    <dgm:cxn modelId="{35476708-0C10-4106-91C9-36C64B88E7E8}" type="presOf" srcId="{06068AC3-29D3-4125-89E5-D2E578B5797D}" destId="{9C3884C2-477B-4C54-9DB5-45E5B8769911}" srcOrd="1" destOrd="0" presId="urn:microsoft.com/office/officeart/2005/8/layout/cycle2"/>
    <dgm:cxn modelId="{28A4CA0B-E149-4D72-980C-CA9DCF8A74A9}" type="presOf" srcId="{E5E88EBF-B3EB-470D-B28B-338465FA2FB1}" destId="{977F9B46-008E-4690-897F-462923174C0E}" srcOrd="0" destOrd="0" presId="urn:microsoft.com/office/officeart/2005/8/layout/cycle2"/>
    <dgm:cxn modelId="{7433EA16-604C-47E2-91FC-4069FBFC64F1}" type="presOf" srcId="{BA08D3C8-D5C9-4591-B992-6F04EEDD3F53}" destId="{5D7F2CD3-EFA0-49D6-A3F7-F0A61F750F17}" srcOrd="0" destOrd="0" presId="urn:microsoft.com/office/officeart/2005/8/layout/cycle2"/>
    <dgm:cxn modelId="{660F5E2D-D834-4503-8402-B0664A7361F9}" type="presOf" srcId="{EBCBB87B-1093-4209-8AF3-0DB4A31F63F5}" destId="{FBD06DA6-C3B1-4120-AFA3-952B8A12AD56}" srcOrd="0" destOrd="0" presId="urn:microsoft.com/office/officeart/2005/8/layout/cycle2"/>
    <dgm:cxn modelId="{2A34DB35-03DC-4CA3-8770-8D951F7D311D}" type="presOf" srcId="{E198CFE7-BFC5-4A16-8F13-1EC4A82277E7}" destId="{D5E5C0EB-C9C6-4859-BFB4-3B9C04ED64DA}" srcOrd="0" destOrd="0" presId="urn:microsoft.com/office/officeart/2005/8/layout/cycle2"/>
    <dgm:cxn modelId="{52C08A3F-9A76-4897-989D-ED9428A800B4}" type="presOf" srcId="{9AA94D40-3F7F-4E6C-8570-81EC956EE6F7}" destId="{0604BFBB-138F-4387-A2FE-9316850E3419}" srcOrd="1" destOrd="0" presId="urn:microsoft.com/office/officeart/2005/8/layout/cycle2"/>
    <dgm:cxn modelId="{E0C27140-2EF5-43F5-A6F1-E3782183A96C}" type="presOf" srcId="{F1C89854-2998-4BD8-AA24-DD4DA5B4C5D6}" destId="{35A07BC6-D709-4B01-9089-001FA0084AE9}" srcOrd="0" destOrd="0" presId="urn:microsoft.com/office/officeart/2005/8/layout/cycle2"/>
    <dgm:cxn modelId="{86315C5E-97D0-4ACE-8490-4D95AEF705FF}" type="presOf" srcId="{3051631B-FCAF-465B-82BA-3473EA79E614}" destId="{9225EE25-C71D-45E9-8CC2-3090D0BC1D79}" srcOrd="0" destOrd="0" presId="urn:microsoft.com/office/officeart/2005/8/layout/cycle2"/>
    <dgm:cxn modelId="{892ED461-0CAD-4B71-932B-944B4EAC9346}" type="presOf" srcId="{DA44C600-7E64-4103-BF67-3D6D9292E811}" destId="{6284C96F-3C03-45BE-BEDA-BDF8B9715DAA}" srcOrd="1" destOrd="0" presId="urn:microsoft.com/office/officeart/2005/8/layout/cycle2"/>
    <dgm:cxn modelId="{B802E763-9FBE-4573-910D-7B0995FEA59C}" type="presOf" srcId="{DEC76504-F5A0-435E-AFA3-46112A6CBB97}" destId="{0ADD17FE-8A86-494E-A790-B38D170EF4A8}" srcOrd="0" destOrd="0" presId="urn:microsoft.com/office/officeart/2005/8/layout/cycle2"/>
    <dgm:cxn modelId="{AB126C66-ED5A-4B61-8FC5-6E9CCCE5F774}" type="presOf" srcId="{021FDC23-F4D0-4B08-890A-7D026F583987}" destId="{A5C8FC56-9BAB-4138-AB40-12C56301E7CA}" srcOrd="0" destOrd="0" presId="urn:microsoft.com/office/officeart/2005/8/layout/cycle2"/>
    <dgm:cxn modelId="{170BC346-E13C-4589-A6A0-CDAFD932312E}" srcId="{EBCBB87B-1093-4209-8AF3-0DB4A31F63F5}" destId="{6035226A-98FB-4B8B-B28A-FF9BF2A77707}" srcOrd="1" destOrd="0" parTransId="{9B80529B-14DF-4CD5-9877-D4B58B505784}" sibTransId="{3051631B-FCAF-465B-82BA-3473EA79E614}"/>
    <dgm:cxn modelId="{CEA5AC6D-61C7-4499-AA9A-B02EF9AE5354}" srcId="{EBCBB87B-1093-4209-8AF3-0DB4A31F63F5}" destId="{BA08D3C8-D5C9-4591-B992-6F04EEDD3F53}" srcOrd="3" destOrd="0" parTransId="{C1F0ABBF-7980-4059-B483-C29E8F6EDCAA}" sibTransId="{84E2C7AD-FA83-4D76-8F44-62BC57E360B8}"/>
    <dgm:cxn modelId="{F0545850-FFFB-4363-B156-9F9C235481BD}" type="presOf" srcId="{9AA94D40-3F7F-4E6C-8570-81EC956EE6F7}" destId="{E79A6657-C5FE-41C2-9DDA-6D31D83E1D56}" srcOrd="0" destOrd="0" presId="urn:microsoft.com/office/officeart/2005/8/layout/cycle2"/>
    <dgm:cxn modelId="{28F0307B-C47B-4D3F-BC65-F573D1C7DF2F}" type="presOf" srcId="{6035226A-98FB-4B8B-B28A-FF9BF2A77707}" destId="{105F0EEC-CEFD-4699-B2E8-7919551B721C}" srcOrd="0" destOrd="0" presId="urn:microsoft.com/office/officeart/2005/8/layout/cycle2"/>
    <dgm:cxn modelId="{C7EB7287-76CC-4420-8FD0-7C558C2809A0}" type="presOf" srcId="{06068AC3-29D3-4125-89E5-D2E578B5797D}" destId="{D073FB9B-A726-4652-8794-388A9CABFB69}" srcOrd="0" destOrd="0" presId="urn:microsoft.com/office/officeart/2005/8/layout/cycle2"/>
    <dgm:cxn modelId="{C253669E-8FAD-4959-8A23-5873B5FAC506}" type="presOf" srcId="{3051631B-FCAF-465B-82BA-3473EA79E614}" destId="{76348C0A-B287-4E98-BC42-4357C02741CD}" srcOrd="1" destOrd="0" presId="urn:microsoft.com/office/officeart/2005/8/layout/cycle2"/>
    <dgm:cxn modelId="{423C45AB-5628-4CA4-9952-F54812204206}" type="presOf" srcId="{E5E88EBF-B3EB-470D-B28B-338465FA2FB1}" destId="{9156D3F9-C741-40DE-837B-4C8DD4ECE71F}" srcOrd="1" destOrd="0" presId="urn:microsoft.com/office/officeart/2005/8/layout/cycle2"/>
    <dgm:cxn modelId="{12A63EAF-0544-4013-BF5C-69395B21C2E2}" type="presOf" srcId="{DA44C600-7E64-4103-BF67-3D6D9292E811}" destId="{68005240-2E97-4600-961B-DB7BFE96EFE0}" srcOrd="0" destOrd="0" presId="urn:microsoft.com/office/officeart/2005/8/layout/cycle2"/>
    <dgm:cxn modelId="{F5723DB6-501A-4469-A735-9CA6C3DDAB2E}" srcId="{EBCBB87B-1093-4209-8AF3-0DB4A31F63F5}" destId="{4C0A26D4-E439-438F-99AB-6472A8217B27}" srcOrd="5" destOrd="0" parTransId="{89BECA5F-DDC8-4390-B19F-B1670070D854}" sibTransId="{9AA94D40-3F7F-4E6C-8570-81EC956EE6F7}"/>
    <dgm:cxn modelId="{0BB68EB9-E8C9-414A-9335-0E97EEEB4BAF}" type="presOf" srcId="{84E2C7AD-FA83-4D76-8F44-62BC57E360B8}" destId="{DBC838C8-3CBD-48FD-8317-A27BB33E0D0B}" srcOrd="0" destOrd="0" presId="urn:microsoft.com/office/officeart/2005/8/layout/cycle2"/>
    <dgm:cxn modelId="{9E15FABA-3C6E-40BE-8D96-71073A08B609}" type="presOf" srcId="{84E2C7AD-FA83-4D76-8F44-62BC57E360B8}" destId="{2C31A080-1F54-46BD-A2DC-1A8D3AC71B11}" srcOrd="1" destOrd="0" presId="urn:microsoft.com/office/officeart/2005/8/layout/cycle2"/>
    <dgm:cxn modelId="{770953BD-D6E6-4C51-B522-7F4764C19ED6}" srcId="{EBCBB87B-1093-4209-8AF3-0DB4A31F63F5}" destId="{AEC47091-F2B8-438E-AC2E-6410635B4672}" srcOrd="6" destOrd="0" parTransId="{D66524D8-E1FC-4F35-881D-3DC1B1FDFEEA}" sibTransId="{06068AC3-29D3-4125-89E5-D2E578B5797D}"/>
    <dgm:cxn modelId="{3A6673C5-A581-454C-82DC-DAF2235E908B}" type="presOf" srcId="{AEC47091-F2B8-438E-AC2E-6410635B4672}" destId="{8E78D3AB-DC52-4274-8675-483133A80730}" srcOrd="0" destOrd="0" presId="urn:microsoft.com/office/officeart/2005/8/layout/cycle2"/>
    <dgm:cxn modelId="{5484C8CC-26BE-44D8-8DFC-E826BCA881AD}" srcId="{EBCBB87B-1093-4209-8AF3-0DB4A31F63F5}" destId="{DEC76504-F5A0-435E-AFA3-46112A6CBB97}" srcOrd="0" destOrd="0" parTransId="{2CBA644C-E774-42CB-8AA9-BC2F1DB6ED32}" sibTransId="{021FDC23-F4D0-4B08-890A-7D026F583987}"/>
    <dgm:cxn modelId="{3BA728CD-2B56-4998-82F5-A290E83A4E14}" srcId="{EBCBB87B-1093-4209-8AF3-0DB4A31F63F5}" destId="{F1C89854-2998-4BD8-AA24-DD4DA5B4C5D6}" srcOrd="4" destOrd="0" parTransId="{E181923F-1835-413B-A9E4-49FABAB3C202}" sibTransId="{E5E88EBF-B3EB-470D-B28B-338465FA2FB1}"/>
    <dgm:cxn modelId="{836EC7DC-6ACA-4F1A-9C12-CC52D908D915}" type="presOf" srcId="{4C0A26D4-E439-438F-99AB-6472A8217B27}" destId="{5F3094F4-63B9-439F-8631-7EDC4182BF04}" srcOrd="0" destOrd="0" presId="urn:microsoft.com/office/officeart/2005/8/layout/cycle2"/>
    <dgm:cxn modelId="{493CC8E5-1173-4BE4-AF65-A497700E9924}" type="presOf" srcId="{021FDC23-F4D0-4B08-890A-7D026F583987}" destId="{5C527F6A-771A-4161-983B-8A8ECECA81D3}" srcOrd="1" destOrd="0" presId="urn:microsoft.com/office/officeart/2005/8/layout/cycle2"/>
    <dgm:cxn modelId="{D82402FE-A04F-4807-9F8B-8A6EEB894F4F}" srcId="{EBCBB87B-1093-4209-8AF3-0DB4A31F63F5}" destId="{E198CFE7-BFC5-4A16-8F13-1EC4A82277E7}" srcOrd="2" destOrd="0" parTransId="{B96DB187-18FA-4AFA-B6FB-931D7B8F142A}" sibTransId="{DA44C600-7E64-4103-BF67-3D6D9292E811}"/>
    <dgm:cxn modelId="{1A6DB7FF-654F-4D39-8C55-A8B8295D7E51}" type="presParOf" srcId="{FBD06DA6-C3B1-4120-AFA3-952B8A12AD56}" destId="{0ADD17FE-8A86-494E-A790-B38D170EF4A8}" srcOrd="0" destOrd="0" presId="urn:microsoft.com/office/officeart/2005/8/layout/cycle2"/>
    <dgm:cxn modelId="{8EB12039-FDC8-43C6-97CE-4CFEB751945D}" type="presParOf" srcId="{FBD06DA6-C3B1-4120-AFA3-952B8A12AD56}" destId="{A5C8FC56-9BAB-4138-AB40-12C56301E7CA}" srcOrd="1" destOrd="0" presId="urn:microsoft.com/office/officeart/2005/8/layout/cycle2"/>
    <dgm:cxn modelId="{62DC7626-2CCB-48E6-B4E1-F37113FF715A}" type="presParOf" srcId="{A5C8FC56-9BAB-4138-AB40-12C56301E7CA}" destId="{5C527F6A-771A-4161-983B-8A8ECECA81D3}" srcOrd="0" destOrd="0" presId="urn:microsoft.com/office/officeart/2005/8/layout/cycle2"/>
    <dgm:cxn modelId="{57BF6304-A8E5-42FA-87BA-9E787EC2BBFB}" type="presParOf" srcId="{FBD06DA6-C3B1-4120-AFA3-952B8A12AD56}" destId="{105F0EEC-CEFD-4699-B2E8-7919551B721C}" srcOrd="2" destOrd="0" presId="urn:microsoft.com/office/officeart/2005/8/layout/cycle2"/>
    <dgm:cxn modelId="{765960CB-3C79-48A0-AD1B-D608AA05C45E}" type="presParOf" srcId="{FBD06DA6-C3B1-4120-AFA3-952B8A12AD56}" destId="{9225EE25-C71D-45E9-8CC2-3090D0BC1D79}" srcOrd="3" destOrd="0" presId="urn:microsoft.com/office/officeart/2005/8/layout/cycle2"/>
    <dgm:cxn modelId="{565887EF-2998-463A-86C7-D8D968CAD2AA}" type="presParOf" srcId="{9225EE25-C71D-45E9-8CC2-3090D0BC1D79}" destId="{76348C0A-B287-4E98-BC42-4357C02741CD}" srcOrd="0" destOrd="0" presId="urn:microsoft.com/office/officeart/2005/8/layout/cycle2"/>
    <dgm:cxn modelId="{A1742774-5949-46A0-95DD-14CE4D3A7347}" type="presParOf" srcId="{FBD06DA6-C3B1-4120-AFA3-952B8A12AD56}" destId="{D5E5C0EB-C9C6-4859-BFB4-3B9C04ED64DA}" srcOrd="4" destOrd="0" presId="urn:microsoft.com/office/officeart/2005/8/layout/cycle2"/>
    <dgm:cxn modelId="{54D856DB-897A-4641-A469-C858B8946DAA}" type="presParOf" srcId="{FBD06DA6-C3B1-4120-AFA3-952B8A12AD56}" destId="{68005240-2E97-4600-961B-DB7BFE96EFE0}" srcOrd="5" destOrd="0" presId="urn:microsoft.com/office/officeart/2005/8/layout/cycle2"/>
    <dgm:cxn modelId="{846810E8-7C63-4CA1-B593-9B56E4CA8FC8}" type="presParOf" srcId="{68005240-2E97-4600-961B-DB7BFE96EFE0}" destId="{6284C96F-3C03-45BE-BEDA-BDF8B9715DAA}" srcOrd="0" destOrd="0" presId="urn:microsoft.com/office/officeart/2005/8/layout/cycle2"/>
    <dgm:cxn modelId="{843CFF57-DE1C-403F-ACCF-8FE164B91F90}" type="presParOf" srcId="{FBD06DA6-C3B1-4120-AFA3-952B8A12AD56}" destId="{5D7F2CD3-EFA0-49D6-A3F7-F0A61F750F17}" srcOrd="6" destOrd="0" presId="urn:microsoft.com/office/officeart/2005/8/layout/cycle2"/>
    <dgm:cxn modelId="{27F7FC57-560D-49BE-BE38-8EBCDC8359C9}" type="presParOf" srcId="{FBD06DA6-C3B1-4120-AFA3-952B8A12AD56}" destId="{DBC838C8-3CBD-48FD-8317-A27BB33E0D0B}" srcOrd="7" destOrd="0" presId="urn:microsoft.com/office/officeart/2005/8/layout/cycle2"/>
    <dgm:cxn modelId="{7EDB2948-A2E3-41DD-9D94-DAFB4E01E105}" type="presParOf" srcId="{DBC838C8-3CBD-48FD-8317-A27BB33E0D0B}" destId="{2C31A080-1F54-46BD-A2DC-1A8D3AC71B11}" srcOrd="0" destOrd="0" presId="urn:microsoft.com/office/officeart/2005/8/layout/cycle2"/>
    <dgm:cxn modelId="{BFECB67F-D99B-43D0-8512-099BF04E6B1D}" type="presParOf" srcId="{FBD06DA6-C3B1-4120-AFA3-952B8A12AD56}" destId="{35A07BC6-D709-4B01-9089-001FA0084AE9}" srcOrd="8" destOrd="0" presId="urn:microsoft.com/office/officeart/2005/8/layout/cycle2"/>
    <dgm:cxn modelId="{91AA1295-431D-4A92-9EB0-6651F0E71BF5}" type="presParOf" srcId="{FBD06DA6-C3B1-4120-AFA3-952B8A12AD56}" destId="{977F9B46-008E-4690-897F-462923174C0E}" srcOrd="9" destOrd="0" presId="urn:microsoft.com/office/officeart/2005/8/layout/cycle2"/>
    <dgm:cxn modelId="{378488C9-DFD5-4C6E-BA4C-AB195D385200}" type="presParOf" srcId="{977F9B46-008E-4690-897F-462923174C0E}" destId="{9156D3F9-C741-40DE-837B-4C8DD4ECE71F}" srcOrd="0" destOrd="0" presId="urn:microsoft.com/office/officeart/2005/8/layout/cycle2"/>
    <dgm:cxn modelId="{0A40012A-A49F-4840-B147-8D402E1C7631}" type="presParOf" srcId="{FBD06DA6-C3B1-4120-AFA3-952B8A12AD56}" destId="{5F3094F4-63B9-439F-8631-7EDC4182BF04}" srcOrd="10" destOrd="0" presId="urn:microsoft.com/office/officeart/2005/8/layout/cycle2"/>
    <dgm:cxn modelId="{86E6AF5D-37C3-44B9-9971-29D7A23F048F}" type="presParOf" srcId="{FBD06DA6-C3B1-4120-AFA3-952B8A12AD56}" destId="{E79A6657-C5FE-41C2-9DDA-6D31D83E1D56}" srcOrd="11" destOrd="0" presId="urn:microsoft.com/office/officeart/2005/8/layout/cycle2"/>
    <dgm:cxn modelId="{6C85B8CE-BCEE-4AD8-9489-7E3621708FF9}" type="presParOf" srcId="{E79A6657-C5FE-41C2-9DDA-6D31D83E1D56}" destId="{0604BFBB-138F-4387-A2FE-9316850E3419}" srcOrd="0" destOrd="0" presId="urn:microsoft.com/office/officeart/2005/8/layout/cycle2"/>
    <dgm:cxn modelId="{C8006B5D-2DC5-4D68-AC36-7F71E92DDA6D}" type="presParOf" srcId="{FBD06DA6-C3B1-4120-AFA3-952B8A12AD56}" destId="{8E78D3AB-DC52-4274-8675-483133A80730}" srcOrd="12" destOrd="0" presId="urn:microsoft.com/office/officeart/2005/8/layout/cycle2"/>
    <dgm:cxn modelId="{E22FA1A7-AD35-4BAB-B1B5-95718F47BD64}" type="presParOf" srcId="{FBD06DA6-C3B1-4120-AFA3-952B8A12AD56}" destId="{D073FB9B-A726-4652-8794-388A9CABFB69}" srcOrd="13" destOrd="0" presId="urn:microsoft.com/office/officeart/2005/8/layout/cycle2"/>
    <dgm:cxn modelId="{74160C54-0BF6-40D4-AFF9-543F6742DCBB}" type="presParOf" srcId="{D073FB9B-A726-4652-8794-388A9CABFB69}" destId="{9C3884C2-477B-4C54-9DB5-45E5B876991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D17FE-8A86-494E-A790-B38D170EF4A8}">
      <dsp:nvSpPr>
        <dsp:cNvPr id="0" name=""/>
        <dsp:cNvSpPr/>
      </dsp:nvSpPr>
      <dsp:spPr>
        <a:xfrm>
          <a:off x="3812644" y="2129"/>
          <a:ext cx="1360091" cy="13600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source (CSV dataset)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1825" y="201310"/>
        <a:ext cx="961729" cy="961729"/>
      </dsp:txXfrm>
    </dsp:sp>
    <dsp:sp modelId="{A5C8FC56-9BAB-4138-AB40-12C56301E7CA}">
      <dsp:nvSpPr>
        <dsp:cNvPr id="0" name=""/>
        <dsp:cNvSpPr/>
      </dsp:nvSpPr>
      <dsp:spPr>
        <a:xfrm rot="1542857">
          <a:off x="5222781" y="891368"/>
          <a:ext cx="361791" cy="459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28155" y="959628"/>
        <a:ext cx="253254" cy="275418"/>
      </dsp:txXfrm>
    </dsp:sp>
    <dsp:sp modelId="{105F0EEC-CEFD-4699-B2E8-7919551B721C}">
      <dsp:nvSpPr>
        <dsp:cNvPr id="0" name=""/>
        <dsp:cNvSpPr/>
      </dsp:nvSpPr>
      <dsp:spPr>
        <a:xfrm>
          <a:off x="5653068" y="888431"/>
          <a:ext cx="1360091" cy="13600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Python &amp; Pandas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2249" y="1087612"/>
        <a:ext cx="961729" cy="961729"/>
      </dsp:txXfrm>
    </dsp:sp>
    <dsp:sp modelId="{9225EE25-C71D-45E9-8CC2-3090D0BC1D79}">
      <dsp:nvSpPr>
        <dsp:cNvPr id="0" name=""/>
        <dsp:cNvSpPr/>
      </dsp:nvSpPr>
      <dsp:spPr>
        <a:xfrm rot="4628571">
          <a:off x="6377213" y="2324729"/>
          <a:ext cx="361791" cy="459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19406" y="2363627"/>
        <a:ext cx="253254" cy="275418"/>
      </dsp:txXfrm>
    </dsp:sp>
    <dsp:sp modelId="{D5E5C0EB-C9C6-4859-BFB4-3B9C04ED64DA}">
      <dsp:nvSpPr>
        <dsp:cNvPr id="0" name=""/>
        <dsp:cNvSpPr/>
      </dsp:nvSpPr>
      <dsp:spPr>
        <a:xfrm>
          <a:off x="6107615" y="2879932"/>
          <a:ext cx="1360091" cy="13600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Cleaning and Transform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06796" y="3079113"/>
        <a:ext cx="961729" cy="961729"/>
      </dsp:txXfrm>
    </dsp:sp>
    <dsp:sp modelId="{68005240-2E97-4600-961B-DB7BFE96EFE0}">
      <dsp:nvSpPr>
        <dsp:cNvPr id="0" name=""/>
        <dsp:cNvSpPr/>
      </dsp:nvSpPr>
      <dsp:spPr>
        <a:xfrm rot="7714286">
          <a:off x="5976343" y="4120987"/>
          <a:ext cx="361791" cy="459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6064447" y="4170364"/>
        <a:ext cx="253254" cy="275418"/>
      </dsp:txXfrm>
    </dsp:sp>
    <dsp:sp modelId="{5D7F2CD3-EFA0-49D6-A3F7-F0A61F750F17}">
      <dsp:nvSpPr>
        <dsp:cNvPr id="0" name=""/>
        <dsp:cNvSpPr/>
      </dsp:nvSpPr>
      <dsp:spPr>
        <a:xfrm>
          <a:off x="4834002" y="4476992"/>
          <a:ext cx="1360091" cy="13600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SQL Database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33183" y="4676173"/>
        <a:ext cx="961729" cy="961729"/>
      </dsp:txXfrm>
    </dsp:sp>
    <dsp:sp modelId="{DBC838C8-3CBD-48FD-8317-A27BB33E0D0B}">
      <dsp:nvSpPr>
        <dsp:cNvPr id="0" name=""/>
        <dsp:cNvSpPr/>
      </dsp:nvSpPr>
      <dsp:spPr>
        <a:xfrm rot="10800000">
          <a:off x="4322033" y="4927522"/>
          <a:ext cx="361791" cy="459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430570" y="5019328"/>
        <a:ext cx="253254" cy="275418"/>
      </dsp:txXfrm>
    </dsp:sp>
    <dsp:sp modelId="{35A07BC6-D709-4B01-9089-001FA0084AE9}">
      <dsp:nvSpPr>
        <dsp:cNvPr id="0" name=""/>
        <dsp:cNvSpPr/>
      </dsp:nvSpPr>
      <dsp:spPr>
        <a:xfrm>
          <a:off x="2791285" y="4476992"/>
          <a:ext cx="1360091" cy="13600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Warehouse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90466" y="4676173"/>
        <a:ext cx="961729" cy="961729"/>
      </dsp:txXfrm>
    </dsp:sp>
    <dsp:sp modelId="{977F9B46-008E-4690-897F-462923174C0E}">
      <dsp:nvSpPr>
        <dsp:cNvPr id="0" name=""/>
        <dsp:cNvSpPr/>
      </dsp:nvSpPr>
      <dsp:spPr>
        <a:xfrm rot="13885714">
          <a:off x="2660013" y="4136998"/>
          <a:ext cx="361791" cy="459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748117" y="4271233"/>
        <a:ext cx="253254" cy="275418"/>
      </dsp:txXfrm>
    </dsp:sp>
    <dsp:sp modelId="{5F3094F4-63B9-439F-8631-7EDC4182BF04}">
      <dsp:nvSpPr>
        <dsp:cNvPr id="0" name=""/>
        <dsp:cNvSpPr/>
      </dsp:nvSpPr>
      <dsp:spPr>
        <a:xfrm>
          <a:off x="1517673" y="2879932"/>
          <a:ext cx="1360091" cy="13600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Power BI Dashboard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16854" y="3079113"/>
        <a:ext cx="961729" cy="961729"/>
      </dsp:txXfrm>
    </dsp:sp>
    <dsp:sp modelId="{E79A6657-C5FE-41C2-9DDA-6D31D83E1D56}">
      <dsp:nvSpPr>
        <dsp:cNvPr id="0" name=""/>
        <dsp:cNvSpPr/>
      </dsp:nvSpPr>
      <dsp:spPr>
        <a:xfrm rot="16971429">
          <a:off x="2241818" y="2344694"/>
          <a:ext cx="361791" cy="459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84011" y="2489408"/>
        <a:ext cx="253254" cy="275418"/>
      </dsp:txXfrm>
    </dsp:sp>
    <dsp:sp modelId="{8E78D3AB-DC52-4274-8675-483133A80730}">
      <dsp:nvSpPr>
        <dsp:cNvPr id="0" name=""/>
        <dsp:cNvSpPr/>
      </dsp:nvSpPr>
      <dsp:spPr>
        <a:xfrm>
          <a:off x="1972220" y="888431"/>
          <a:ext cx="1360091" cy="13600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Business Insights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71401" y="1087612"/>
        <a:ext cx="961729" cy="961729"/>
      </dsp:txXfrm>
    </dsp:sp>
    <dsp:sp modelId="{D073FB9B-A726-4652-8794-388A9CABFB69}">
      <dsp:nvSpPr>
        <dsp:cNvPr id="0" name=""/>
        <dsp:cNvSpPr/>
      </dsp:nvSpPr>
      <dsp:spPr>
        <a:xfrm rot="20057143">
          <a:off x="3382357" y="900253"/>
          <a:ext cx="361791" cy="459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7731" y="1015605"/>
        <a:ext cx="253254" cy="275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6/21/2026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101012"/>
            <a:ext cx="7077456" cy="2538300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63B7C6"/>
                </a:solidFill>
              </a:rPr>
              <a:t>TAMIZHAN SKILLS </a:t>
            </a:r>
            <a:br>
              <a:rPr lang="en-US" sz="3200" dirty="0">
                <a:solidFill>
                  <a:srgbClr val="63B7C6"/>
                </a:solidFill>
              </a:rPr>
            </a:br>
            <a:r>
              <a:rPr lang="en-US" sz="3200" dirty="0">
                <a:solidFill>
                  <a:srgbClr val="63B7C6"/>
                </a:solidFill>
              </a:rPr>
              <a:t>RISE INTERNSHIP – (DATABASE)</a:t>
            </a:r>
            <a:br>
              <a:rPr lang="en-US" sz="3200" dirty="0">
                <a:solidFill>
                  <a:srgbClr val="63B7C6"/>
                </a:solidFill>
              </a:rPr>
            </a:br>
            <a:br>
              <a:rPr lang="en-US" sz="3200" dirty="0">
                <a:solidFill>
                  <a:srgbClr val="63B7C6"/>
                </a:solidFill>
              </a:rPr>
            </a:br>
            <a:r>
              <a:rPr lang="en-IN" sz="3200" dirty="0">
                <a:solidFill>
                  <a:srgbClr val="63B7C6"/>
                </a:solidFill>
              </a:rPr>
              <a:t>Industry-Ready Enterprise Data Warehouse and Reporting Database</a:t>
            </a:r>
            <a:br>
              <a:rPr lang="en-US" sz="3200" dirty="0">
                <a:solidFill>
                  <a:srgbClr val="63B7C6"/>
                </a:solidFill>
              </a:rPr>
            </a:br>
            <a:endParaRPr lang="en-US" sz="3200" dirty="0">
              <a:solidFill>
                <a:srgbClr val="63B7C6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5753" y="3564295"/>
            <a:ext cx="8434875" cy="139959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Presented by 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kanika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TS-RISE-DB-202606022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923732"/>
            <a:ext cx="7781544" cy="699795"/>
          </a:xfrm>
        </p:spPr>
        <p:txBody>
          <a:bodyPr>
            <a:normAutofit/>
          </a:bodyPr>
          <a:lstStyle/>
          <a:p>
            <a:r>
              <a:rPr lang="en-US" sz="4400" dirty="0"/>
              <a:t>Project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155" y="1866122"/>
            <a:ext cx="7388419" cy="415212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generate large amounts of sales data daily.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data helps businesses understand customer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improve profitability, and make informed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centralized data warehouse and interactive Power BI dashboard to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625152"/>
            <a:ext cx="7781544" cy="961052"/>
          </a:xfrm>
        </p:spPr>
        <p:txBody>
          <a:bodyPr>
            <a:normAutofit/>
          </a:bodyPr>
          <a:lstStyle/>
          <a:p>
            <a:r>
              <a:rPr lang="en-US" sz="4400" dirty="0"/>
              <a:t>Problem Statement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86204"/>
            <a:ext cx="8097546" cy="4236098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data is often stored in multiple systems, making it difficult to generate meaningful insights.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scattered across different 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reporting process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tracking sales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business insights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57130"/>
          </a:xfrm>
        </p:spPr>
        <p:txBody>
          <a:bodyPr/>
          <a:lstStyle/>
          <a:p>
            <a:r>
              <a:rPr lang="en-IN" sz="4800" dirty="0"/>
              <a:t>Project Objectives</a:t>
            </a:r>
            <a:endParaRPr lang="en-US" sz="4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6"/>
            <a:ext cx="6718300" cy="2442762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centralized data warehouse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sales, profit, and quantity data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reports and dashboards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regional and category-wise performance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 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E7854-3DC3-75E9-31AE-1E725BE5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03B72A-4CE9-5BF7-0FC3-7FE791853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765139"/>
              </p:ext>
            </p:extLst>
          </p:nvPr>
        </p:nvGraphicFramePr>
        <p:xfrm>
          <a:off x="793102" y="1651518"/>
          <a:ext cx="9601200" cy="3447054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711677725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223889683"/>
                    </a:ext>
                  </a:extLst>
                </a:gridCol>
              </a:tblGrid>
              <a:tr h="574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762385"/>
                  </a:ext>
                </a:extLst>
              </a:tr>
              <a:tr h="5745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407378"/>
                  </a:ext>
                </a:extLst>
              </a:tr>
              <a:tr h="5745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381681"/>
                  </a:ext>
                </a:extLst>
              </a:tr>
              <a:tr h="5745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542739"/>
                  </a:ext>
                </a:extLst>
              </a:tr>
              <a:tr h="5745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16454"/>
                  </a:ext>
                </a:extLst>
              </a:tr>
              <a:tr h="5745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2244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35B592-8FC2-7DF0-4059-276AA06C3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23250"/>
              </p:ext>
            </p:extLst>
          </p:nvPr>
        </p:nvGraphicFramePr>
        <p:xfrm>
          <a:off x="1073020" y="1492898"/>
          <a:ext cx="6848670" cy="3788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4335">
                  <a:extLst>
                    <a:ext uri="{9D8B030D-6E8A-4147-A177-3AD203B41FA5}">
                      <a16:colId xmlns:a16="http://schemas.microsoft.com/office/drawing/2014/main" val="350381780"/>
                    </a:ext>
                  </a:extLst>
                </a:gridCol>
                <a:gridCol w="3424335">
                  <a:extLst>
                    <a:ext uri="{9D8B030D-6E8A-4147-A177-3AD203B41FA5}">
                      <a16:colId xmlns:a16="http://schemas.microsoft.com/office/drawing/2014/main" val="1856050371"/>
                    </a:ext>
                  </a:extLst>
                </a:gridCol>
              </a:tblGrid>
              <a:tr h="631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08634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                                              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084864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&amp; Transformation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931689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 &amp;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684386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013096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Data Repository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4943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70A47EB-FE71-246D-0098-0C58956D8ABE}"/>
              </a:ext>
            </a:extLst>
          </p:cNvPr>
          <p:cNvSpPr txBox="1"/>
          <p:nvPr/>
        </p:nvSpPr>
        <p:spPr>
          <a:xfrm>
            <a:off x="1073020" y="419878"/>
            <a:ext cx="40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151263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7A442A-00E8-F15B-65CA-21C860CC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808CA47-DA3B-7F6A-F407-E889FDC77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089945"/>
              </p:ext>
            </p:extLst>
          </p:nvPr>
        </p:nvGraphicFramePr>
        <p:xfrm>
          <a:off x="1418253" y="475861"/>
          <a:ext cx="8985380" cy="5839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63C81EA-A7D2-4D5F-1786-507E775126BD}"/>
              </a:ext>
            </a:extLst>
          </p:cNvPr>
          <p:cNvSpPr/>
          <p:nvPr/>
        </p:nvSpPr>
        <p:spPr>
          <a:xfrm>
            <a:off x="429209" y="323655"/>
            <a:ext cx="4338734" cy="438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System</a:t>
            </a:r>
            <a:r>
              <a:rPr lang="en-US" sz="2400" b="1" dirty="0"/>
              <a:t> Arch</a:t>
            </a:r>
            <a:r>
              <a:rPr lang="en-IN" sz="2400" b="1" dirty="0" err="1"/>
              <a:t>itecture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1652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01731"/>
          </a:xfrm>
        </p:spPr>
        <p:txBody>
          <a:bodyPr/>
          <a:lstStyle/>
          <a:p>
            <a:r>
              <a:rPr lang="en-US" sz="4400" dirty="0"/>
              <a:t>Data Warehouse Process</a:t>
            </a:r>
          </a:p>
        </p:txBody>
      </p:sp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sales data from source files.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data</a:t>
            </a:r>
          </a:p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data into SQL Data Warehouse.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7138-55BC-7F0D-683F-04862DD6E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C85C98-89AA-2132-E87E-0224CEE5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2AEE9-0D58-930D-EF8D-E56E0BE051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784746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Attributes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ID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Name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34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01731"/>
          </a:xfrm>
        </p:spPr>
        <p:txBody>
          <a:bodyPr/>
          <a:lstStyle/>
          <a:p>
            <a:r>
              <a:rPr lang="en-US" sz="4400" dirty="0"/>
              <a:t>KPI Analysis</a:t>
            </a:r>
          </a:p>
        </p:txBody>
      </p:sp>
      <p:pic>
        <p:nvPicPr>
          <p:cNvPr id="25" name="Picture Placeholder 24" descr="Bar chart">
            <a:extLst>
              <a:ext uri="{FF2B5EF4-FFF2-40B4-BE49-F238E27FC236}">
                <a16:creationId xmlns:a16="http://schemas.microsoft.com/office/drawing/2014/main" id="{C03AAFA7-022A-47F8-9DA1-7DC3897D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" b="63"/>
          <a:stretch>
            <a:fillRect/>
          </a:stretch>
        </p:blipFill>
        <p:spPr>
          <a:xfrm>
            <a:off x="978212" y="2096716"/>
            <a:ext cx="1259505" cy="1259505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Million</a:t>
            </a:r>
          </a:p>
        </p:txBody>
      </p:sp>
      <p:pic>
        <p:nvPicPr>
          <p:cNvPr id="27" name="Picture Placeholder 26" descr="Clock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286 Thousand</a:t>
            </a:r>
          </a:p>
        </p:txBody>
      </p:sp>
      <p:pic>
        <p:nvPicPr>
          <p:cNvPr id="29" name="Picture Placeholder 28" descr="Microscope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Sold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 Thousand</a:t>
            </a:r>
          </a:p>
        </p:txBody>
      </p:sp>
      <p:pic>
        <p:nvPicPr>
          <p:cNvPr id="31" name="Picture Placeholder 30" descr="Magnifying glass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5009 Thousand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D05A34F-7712-46DB-AB5B-272E294B62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443874"/>
          </a:xfrm>
        </p:spPr>
        <p:txBody>
          <a:bodyPr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quick overview of business performance.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Placeholder 30" descr="Magnifying glass">
            <a:extLst>
              <a:ext uri="{FF2B5EF4-FFF2-40B4-BE49-F238E27FC236}">
                <a16:creationId xmlns:a16="http://schemas.microsoft.com/office/drawing/2014/main" id="{D08361D8-39A6-D76A-6AFB-29069FA98A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887409" y="2169495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000E-90A2-C740-07A0-1DA3B1A6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311128"/>
          </a:xfrm>
        </p:spPr>
        <p:txBody>
          <a:bodyPr/>
          <a:lstStyle/>
          <a:p>
            <a:r>
              <a:rPr lang="en-IN" sz="4400" dirty="0"/>
              <a:t>Segment Analysis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CD0A9-2F24-E3E3-180B-0AE709F2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BCADF-89E1-A900-1A93-6F5C8D3E3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contribution to sales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Segment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largest contributor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Office Segment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contribution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1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89DE-D197-6856-0844-FFF7A111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200329"/>
          </a:xfrm>
        </p:spPr>
        <p:txBody>
          <a:bodyPr/>
          <a:lstStyle/>
          <a:p>
            <a:r>
              <a:rPr lang="en-IN" sz="4000" dirty="0"/>
              <a:t>Category &amp; Regional Analysis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8E7F99-7C2B-C715-3276-4CA705F0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D8BAA-0C32-9D96-BFED-A6666C6DD9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has highest sales.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Furniture follows Technology.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contributes steadily.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Region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generates highest profit.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 ranks second.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and Central contribute moderate profit.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28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311128"/>
          </a:xfrm>
        </p:spPr>
        <p:txBody>
          <a:bodyPr/>
          <a:lstStyle/>
          <a:p>
            <a:r>
              <a:rPr lang="en-IN" sz="4400" dirty="0"/>
              <a:t>Sales Analysis</a:t>
            </a:r>
            <a:br>
              <a:rPr lang="en-IN" sz="4400" dirty="0"/>
            </a:br>
            <a:endParaRPr lang="en-US" sz="4400" dirty="0"/>
          </a:p>
        </p:txBody>
      </p:sp>
      <p:pic>
        <p:nvPicPr>
          <p:cNvPr id="8" name="Picture Placeholder 7" descr="Triangular pattern design with dimension">
            <a:extLst>
              <a:ext uri="{FF2B5EF4-FFF2-40B4-BE49-F238E27FC236}">
                <a16:creationId xmlns:a16="http://schemas.microsoft.com/office/drawing/2014/main" id="{2301248D-7370-7643-9BE6-F8CDCFF4D46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1352575"/>
            <a:ext cx="12192002" cy="2289897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increased significantly after 2015.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sales recorded in 2017.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growth trend indicates business expansion.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41E5-A82A-1F9F-A469-36FB355A8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311128"/>
          </a:xfrm>
        </p:spPr>
        <p:txBody>
          <a:bodyPr/>
          <a:lstStyle/>
          <a:p>
            <a:r>
              <a:rPr lang="en-IN" sz="4400" dirty="0"/>
              <a:t>Business Insights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80C1A-5689-317C-AD91-06EA09C5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86BE7-2F84-164D-55B5-7E0921801D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Consumer Segment drives revenue.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Category generates maximum sales.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West Region contributes highest profit.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show consistent yearly growth.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warehouse enables faster reporting and analysis.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27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E34D-483B-8F6A-4054-B7EF9C7F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01731"/>
          </a:xfrm>
        </p:spPr>
        <p:txBody>
          <a:bodyPr/>
          <a:lstStyle/>
          <a:p>
            <a:r>
              <a:rPr lang="en-US" sz="4400" dirty="0"/>
              <a:t>Dashboard</a:t>
            </a:r>
            <a:endParaRPr lang="en-IN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BDF57-7096-D946-5AA1-B69DCAF9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509ED-0C6F-B7D9-423A-286C528AC7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22" t="18149" r="18342" b="13333"/>
          <a:stretch>
            <a:fillRect/>
          </a:stretch>
        </p:blipFill>
        <p:spPr>
          <a:xfrm>
            <a:off x="1306286" y="1533905"/>
            <a:ext cx="8294914" cy="469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03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2892490"/>
            <a:ext cx="8862528" cy="3167223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Enterprise Sales Reporting Dashboard successfully integrates Data Warehousing and Business Intelligence techniques to provide meaningful business insights.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using Machine Learning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 generation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Data Warehouse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analytics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55</TotalTime>
  <Words>465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Trade Gothic LT Pro</vt:lpstr>
      <vt:lpstr>Trebuchet MS</vt:lpstr>
      <vt:lpstr>Office Theme</vt:lpstr>
      <vt:lpstr>TAMIZHAN SKILLS  RISE INTERNSHIP – (DATABASE)  Industry-Ready Enterprise Data Warehouse and Reporting Database </vt:lpstr>
      <vt:lpstr>Project Overview</vt:lpstr>
      <vt:lpstr>Problem Statement</vt:lpstr>
      <vt:lpstr>Project Objectives</vt:lpstr>
      <vt:lpstr>PowerPoint Presentation</vt:lpstr>
      <vt:lpstr>PowerPoint Presentation</vt:lpstr>
      <vt:lpstr>Data Warehouse Process</vt:lpstr>
      <vt:lpstr>Dataset Description</vt:lpstr>
      <vt:lpstr>KPI Analysis</vt:lpstr>
      <vt:lpstr>Segment Analysis </vt:lpstr>
      <vt:lpstr>Category &amp; Regional Analysis </vt:lpstr>
      <vt:lpstr>Sales Analysis </vt:lpstr>
      <vt:lpstr>Business Insights </vt:lpstr>
      <vt:lpstr>Dashboard</vt:lpstr>
      <vt:lpstr>Conclusion The Enterprise Sales Reporting Dashboard successfully integrates Data Warehousing and Business Intelligence techniques to provide meaningful business insights.  Future Enhancements Real-time data integration  Sales forecasting using Machine Learning  Automated report generation  Cloud-based Data Warehouse  AI-powered analytics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kanikap770@gmail.com</dc:creator>
  <cp:lastModifiedBy>kanikap770@gmail.com</cp:lastModifiedBy>
  <cp:revision>3</cp:revision>
  <dcterms:created xsi:type="dcterms:W3CDTF">2026-06-21T13:54:12Z</dcterms:created>
  <dcterms:modified xsi:type="dcterms:W3CDTF">2026-06-21T14:54:22Z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